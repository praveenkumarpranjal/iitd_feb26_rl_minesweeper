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Open Sauce" charset="1" panose="00000500000000000000"/>
      <p:regular r:id="rId10"/>
    </p:embeddedFont>
    <p:embeddedFont>
      <p:font typeface="DM Serif Display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https://github.com/praveenkumarpranjal/IITD_Feb26_RL_MINESWEEPER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20036" y="8889099"/>
            <a:ext cx="1739264" cy="973988"/>
          </a:xfrm>
          <a:custGeom>
            <a:avLst/>
            <a:gdLst/>
            <a:ahLst/>
            <a:cxnLst/>
            <a:rect r="r" b="b" t="t" l="l"/>
            <a:pathLst>
              <a:path h="973988" w="1739264">
                <a:moveTo>
                  <a:pt x="0" y="0"/>
                </a:moveTo>
                <a:lnTo>
                  <a:pt x="1739264" y="0"/>
                </a:lnTo>
                <a:lnTo>
                  <a:pt x="1739264" y="973988"/>
                </a:lnTo>
                <a:lnTo>
                  <a:pt x="0" y="973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5916" y="8763387"/>
            <a:ext cx="1051690" cy="989826"/>
          </a:xfrm>
          <a:custGeom>
            <a:avLst/>
            <a:gdLst/>
            <a:ahLst/>
            <a:cxnLst/>
            <a:rect r="r" b="b" t="t" l="l"/>
            <a:pathLst>
              <a:path h="989826" w="1051690">
                <a:moveTo>
                  <a:pt x="0" y="0"/>
                </a:moveTo>
                <a:lnTo>
                  <a:pt x="1051690" y="0"/>
                </a:lnTo>
                <a:lnTo>
                  <a:pt x="1051690" y="989826"/>
                </a:lnTo>
                <a:lnTo>
                  <a:pt x="0" y="989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4341" y="2206536"/>
            <a:ext cx="14192507" cy="583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8608" indent="-239304" lvl="1">
              <a:lnSpc>
                <a:spcPts val="3103"/>
              </a:lnSpc>
              <a:buFont typeface="Arial"/>
              <a:buChar char="•"/>
            </a:pPr>
            <a:r>
              <a:rPr lang="en-US" sz="2216" spc="2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BASE POLICY: UTILIZED QWEN2.5-14B-INSTRUCT FOR ITS SUPERIOR NATIVE JSON ADHERENCE AND HIGH-ORDER REASONING COMPARED TO SMALLER 7B VARIANTS.</a:t>
            </a:r>
          </a:p>
          <a:p>
            <a:pPr algn="ctr" marL="478608" indent="-239304" lvl="1">
              <a:lnSpc>
                <a:spcPts val="3103"/>
              </a:lnSpc>
              <a:buFont typeface="Arial"/>
              <a:buChar char="•"/>
            </a:pPr>
            <a:r>
              <a:rPr lang="en-US" sz="2216" spc="2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HARDWARE-SPECIFIC LORA: IMPLEMENTED A RANK 64 LORA ADAPTER TARGETING ALL ATTENTION AND</a:t>
            </a:r>
            <a:r>
              <a:rPr lang="en-US" sz="2216" spc="2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MLP projec</a:t>
            </a:r>
            <a:r>
              <a:rPr lang="en-US" sz="2216" spc="2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TIONS TO MAXIMIZE LEARNING CAPACITY ON THE AMD MI300X.</a:t>
            </a:r>
          </a:p>
          <a:p>
            <a:pPr algn="ctr" marL="478608" indent="-239304" lvl="1">
              <a:lnSpc>
                <a:spcPts val="3103"/>
              </a:lnSpc>
              <a:buFont typeface="Arial"/>
              <a:buChar char="•"/>
            </a:pPr>
            <a:r>
              <a:rPr lang="en-US" sz="2216" spc="2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FRAMEWORK EFFICIENCY: LEVERAGED UNSLOTH FOR ROCM-COMPATIBLE TRAINING, PROVIDING 2-6X SPEEDUPS AND 70% VRAM REDUCTION ON 262 GB HBM3.</a:t>
            </a:r>
          </a:p>
          <a:p>
            <a:pPr algn="ctr" marL="478608" indent="-239304" lvl="1">
              <a:lnSpc>
                <a:spcPts val="3103"/>
              </a:lnSpc>
              <a:spcBef>
                <a:spcPct val="0"/>
              </a:spcBef>
              <a:buFont typeface="Arial"/>
              <a:buChar char="•"/>
            </a:pPr>
            <a:r>
              <a:rPr lang="en-US" sz="2216" spc="2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GRPO METHODOLOGY: EMPLOY</a:t>
            </a:r>
            <a:r>
              <a:rPr lang="en-US" sz="2216" spc="2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 GROUP RELATIVE POLICY OPTIMIZATION TO "TEACH THE MODEL TO THINK" BY COMPARING MULTIPLE MOVE TRAJECTORIES PER BOARD STATE.</a:t>
            </a:r>
          </a:p>
          <a:p>
            <a:pPr algn="ctr" marL="478608" indent="-239304" lvl="1">
              <a:lnSpc>
                <a:spcPts val="3103"/>
              </a:lnSpc>
              <a:spcBef>
                <a:spcPct val="0"/>
              </a:spcBef>
              <a:buFont typeface="Arial"/>
              <a:buChar char="•"/>
            </a:pPr>
            <a:r>
              <a:rPr lang="en-US" sz="2216" spc="22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MEMORY MANAGEMENT: REDIRECTED ALL CACHES AND MODEL LOADING TO THE /WORKSPACE DIRECTORY TO ENSURE HIGH-SPEED THROUGHPUT AND ENVIRONMENT STABILITY.</a:t>
            </a:r>
          </a:p>
          <a:p>
            <a:pPr algn="ctr">
              <a:lnSpc>
                <a:spcPts val="310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215356" y="9102407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TEAM77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26120" y="933450"/>
            <a:ext cx="11628949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Strategic </a:t>
            </a:r>
            <a:r>
              <a:rPr lang="en-US" sz="5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Vision &amp; Model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35281" y="8004264"/>
            <a:ext cx="1001062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github.com/praveenkumarpranjal/IITD_Feb26_RL_MINESWEEPER"/>
              </a:rPr>
              <a:t>Github Repo: https://github.com/praveenkumarpranjal/IITD_Feb26_RL_MINESWEEPER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20036" y="8889099"/>
            <a:ext cx="1739264" cy="973988"/>
          </a:xfrm>
          <a:custGeom>
            <a:avLst/>
            <a:gdLst/>
            <a:ahLst/>
            <a:cxnLst/>
            <a:rect r="r" b="b" t="t" l="l"/>
            <a:pathLst>
              <a:path h="973988" w="1739264">
                <a:moveTo>
                  <a:pt x="0" y="0"/>
                </a:moveTo>
                <a:lnTo>
                  <a:pt x="1739264" y="0"/>
                </a:lnTo>
                <a:lnTo>
                  <a:pt x="1739264" y="973988"/>
                </a:lnTo>
                <a:lnTo>
                  <a:pt x="0" y="973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5916" y="8763387"/>
            <a:ext cx="1051690" cy="989826"/>
          </a:xfrm>
          <a:custGeom>
            <a:avLst/>
            <a:gdLst/>
            <a:ahLst/>
            <a:cxnLst/>
            <a:rect r="r" b="b" t="t" l="l"/>
            <a:pathLst>
              <a:path h="989826" w="1051690">
                <a:moveTo>
                  <a:pt x="0" y="0"/>
                </a:moveTo>
                <a:lnTo>
                  <a:pt x="1051690" y="0"/>
                </a:lnTo>
                <a:lnTo>
                  <a:pt x="1051690" y="989826"/>
                </a:lnTo>
                <a:lnTo>
                  <a:pt x="0" y="989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26120" y="933450"/>
            <a:ext cx="11628949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Rewa</a:t>
            </a:r>
            <a:r>
              <a:rPr lang="en-US" sz="5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rd Engineering &amp; Innovation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7859" y="2385599"/>
            <a:ext cx="14625471" cy="613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0127" indent="-235064" lvl="1">
              <a:lnSpc>
                <a:spcPts val="3048"/>
              </a:lnSpc>
              <a:buFont typeface="Arial"/>
              <a:buChar char="•"/>
            </a:pPr>
            <a:r>
              <a:rPr lang="en-US" sz="2177" spc="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BREAK</a:t>
            </a:r>
            <a:r>
              <a:rPr lang="en-US" sz="2177" spc="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THROUGH 1 (CASCADE-SHAPING): INCENTIVIZED THE MODEL WITH A +1.0 REWARD FOR EVERY EXTRA CELL REVEALED BEYOND THE FIRST, TEACHING IT TO TARGET HIGH-VALUE ZERO-CASCADES.</a:t>
            </a:r>
          </a:p>
          <a:p>
            <a:pPr algn="ctr" marL="470127" indent="-235064" lvl="1">
              <a:lnSpc>
                <a:spcPts val="3048"/>
              </a:lnSpc>
              <a:buFont typeface="Arial"/>
              <a:buChar char="•"/>
            </a:pPr>
            <a:r>
              <a:rPr lang="en-US" sz="2177" spc="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BREAKTHROUGH 2 (ORACLE PROXIMITY): INTEGRATED A CUSTOM ORACLE SOLVER THAT AWARDS +8 POINTS FOR THE MATHEMATICALLY OPTIMAL MOVE AND +5 FOR LOGICALLY SAFE DEDUCTIONS.</a:t>
            </a:r>
          </a:p>
          <a:p>
            <a:pPr algn="ctr" marL="470127" indent="-235064" lvl="1">
              <a:lnSpc>
                <a:spcPts val="3048"/>
              </a:lnSpc>
              <a:buFont typeface="Arial"/>
              <a:buChar char="•"/>
            </a:pPr>
            <a:r>
              <a:rPr lang="en-US" sz="2177" spc="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BREAKTHROUGH 3 (NUM_ITERATIONS=2): OPTIMIZED COMPUTE BY REUSING COMPLETION BATCHES FOR TWO GRADIENT UPDATES, EFFECTIVELY DOUBLING LEARNING PER GENERATION BATCH.</a:t>
            </a:r>
          </a:p>
          <a:p>
            <a:pPr algn="ctr" marL="470127" indent="-235064" lvl="1">
              <a:lnSpc>
                <a:spcPts val="3048"/>
              </a:lnSpc>
              <a:buFont typeface="Arial"/>
              <a:buChar char="•"/>
            </a:pPr>
            <a:r>
              <a:rPr lang="en-US" sz="2177" spc="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ASYMMETRIC SAFETY RAIL: IMPLEMENTED A MASSIVE -30.0 PENALTY THAT TRIGGERS ONLY WHEN JSON FORMAT IS BROKEN, PREVENTING MODEL COLLAPSE WITHOUT INTERFERING WITH VALID LOGIC.</a:t>
            </a:r>
          </a:p>
          <a:p>
            <a:pPr algn="ctr" marL="470127" indent="-235064" lvl="1">
              <a:lnSpc>
                <a:spcPts val="3048"/>
              </a:lnSpc>
              <a:buFont typeface="Arial"/>
              <a:buChar char="•"/>
            </a:pPr>
            <a:r>
              <a:rPr lang="en-US" sz="2177" spc="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MULTI-STEP ROLLOUTS: USED MONTE-CARLO STYLE SIMULATION TO REWARD MOVES THAT RESULT IN OVER 60% OF SAFE CELLS BEING REVEALED WITHIN 5-15 FOLLOW-UP ACTIONS.</a:t>
            </a:r>
          </a:p>
          <a:p>
            <a:pPr algn="ctr">
              <a:lnSpc>
                <a:spcPts val="304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215356" y="9102407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TEAM77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20036" y="8889099"/>
            <a:ext cx="1739264" cy="973988"/>
          </a:xfrm>
          <a:custGeom>
            <a:avLst/>
            <a:gdLst/>
            <a:ahLst/>
            <a:cxnLst/>
            <a:rect r="r" b="b" t="t" l="l"/>
            <a:pathLst>
              <a:path h="973988" w="1739264">
                <a:moveTo>
                  <a:pt x="0" y="0"/>
                </a:moveTo>
                <a:lnTo>
                  <a:pt x="1739264" y="0"/>
                </a:lnTo>
                <a:lnTo>
                  <a:pt x="1739264" y="973988"/>
                </a:lnTo>
                <a:lnTo>
                  <a:pt x="0" y="973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5916" y="8763387"/>
            <a:ext cx="1051690" cy="989826"/>
          </a:xfrm>
          <a:custGeom>
            <a:avLst/>
            <a:gdLst/>
            <a:ahLst/>
            <a:cxnLst/>
            <a:rect r="r" b="b" t="t" l="l"/>
            <a:pathLst>
              <a:path h="989826" w="1051690">
                <a:moveTo>
                  <a:pt x="0" y="0"/>
                </a:moveTo>
                <a:lnTo>
                  <a:pt x="1051690" y="0"/>
                </a:lnTo>
                <a:lnTo>
                  <a:pt x="1051690" y="989826"/>
                </a:lnTo>
                <a:lnTo>
                  <a:pt x="0" y="989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61797" y="708745"/>
            <a:ext cx="12164406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Datas</a:t>
            </a:r>
            <a:r>
              <a:rPr lang="en-US" sz="5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et Curation &amp; Token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15356" y="9102407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TEAM77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645" y="2380278"/>
            <a:ext cx="15061900" cy="592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4156" indent="-242078" lvl="1">
              <a:lnSpc>
                <a:spcPts val="3139"/>
              </a:lnSpc>
              <a:buFont typeface="Arial"/>
              <a:buChar char="•"/>
            </a:pPr>
            <a:r>
              <a:rPr lang="en-US" sz="2242" spc="22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CUR</a:t>
            </a:r>
            <a:r>
              <a:rPr lang="en-US" sz="2242" spc="22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RICULUM LEARNING: GENERATED 5,000 DIVERSE GAME STATES TRANSITIONING FROM EASY (5X5) TO LARGE (25X25) TO ENSURE SPATIAL REASONING GENERALIZES TO 50X50 COMPETITION BOARDS.</a:t>
            </a:r>
          </a:p>
          <a:p>
            <a:pPr algn="ctr" marL="484156" indent="-242078" lvl="1">
              <a:lnSpc>
                <a:spcPts val="3139"/>
              </a:lnSpc>
              <a:buFont typeface="Arial"/>
              <a:buChar char="•"/>
            </a:pPr>
            <a:r>
              <a:rPr lang="en-US" sz="2242" spc="22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</a:t>
            </a:r>
            <a:r>
              <a:rPr lang="en-US" sz="2242" spc="22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RD-TIER SCENARIOS: INCLUDED CUSTOM DATASETS WITH 16-22% MINE DENSITY TO FORCE THE MODEL TO SOLVE COMPLEX MID-GAME STATES REQUIRING DEEP LOGICAL DEDUCTION.</a:t>
            </a:r>
          </a:p>
          <a:p>
            <a:pPr algn="ctr" marL="484156" indent="-242078" lvl="1">
              <a:lnSpc>
                <a:spcPts val="3139"/>
              </a:lnSpc>
              <a:buFont typeface="Arial"/>
              <a:buChar char="•"/>
            </a:pPr>
            <a:r>
              <a:rPr lang="en-US" sz="2242" spc="22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BREVITY ENFORCEMENT: TRAINED THE MODEL TO STAY WITHIN A 60-CHARACTER OUTPUT LIMIT TO REMAIN SAFELY UNDER THE 128-TOKEN HARD LIMIT SET BY THE CONTROLLER.</a:t>
            </a:r>
          </a:p>
          <a:p>
            <a:pPr algn="ctr" marL="484156" indent="-242078" lvl="1">
              <a:lnSpc>
                <a:spcPts val="3139"/>
              </a:lnSpc>
              <a:buFont typeface="Arial"/>
              <a:buChar char="•"/>
            </a:pPr>
            <a:r>
              <a:rPr lang="en-US" sz="2242" spc="22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</a:t>
            </a:r>
            <a:r>
              <a:rPr lang="en-US" sz="2242" spc="22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MPT STRIPPING: OPTIMIZED THE SYSTEM PROMPT TO REMOVE ALL CONVERSATIONAL FILLERS, PROVIDING ONLY THE ESSENTIAL GAME_STATE.JSON SNAPSHOT FOR MAXIMUM EFFICIENCY.</a:t>
            </a:r>
          </a:p>
          <a:p>
            <a:pPr algn="ctr" marL="484156" indent="-242078" lvl="1">
              <a:lnSpc>
                <a:spcPts val="3139"/>
              </a:lnSpc>
              <a:spcBef>
                <a:spcPct val="0"/>
              </a:spcBef>
              <a:buFont typeface="Arial"/>
              <a:buChar char="•"/>
            </a:pPr>
            <a:r>
              <a:rPr lang="en-US" sz="2242" spc="22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RECURSIVE MOVE PREVENTION: ALIGNED NEGATIVE REWARDS WITH THE SCORING TABLE TO PUNISH ALREADY REVEALED (-12) OR ALREADY FLAGGED (-8) CELLS, AVOIDING THE $2NM$ MOVE-LIMIT FAILURE.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20036" y="8889099"/>
            <a:ext cx="1739264" cy="973988"/>
          </a:xfrm>
          <a:custGeom>
            <a:avLst/>
            <a:gdLst/>
            <a:ahLst/>
            <a:cxnLst/>
            <a:rect r="r" b="b" t="t" l="l"/>
            <a:pathLst>
              <a:path h="973988" w="1739264">
                <a:moveTo>
                  <a:pt x="0" y="0"/>
                </a:moveTo>
                <a:lnTo>
                  <a:pt x="1739264" y="0"/>
                </a:lnTo>
                <a:lnTo>
                  <a:pt x="1739264" y="973988"/>
                </a:lnTo>
                <a:lnTo>
                  <a:pt x="0" y="973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5916" y="8763387"/>
            <a:ext cx="1051690" cy="989826"/>
          </a:xfrm>
          <a:custGeom>
            <a:avLst/>
            <a:gdLst/>
            <a:ahLst/>
            <a:cxnLst/>
            <a:rect r="r" b="b" t="t" l="l"/>
            <a:pathLst>
              <a:path h="989826" w="1051690">
                <a:moveTo>
                  <a:pt x="0" y="0"/>
                </a:moveTo>
                <a:lnTo>
                  <a:pt x="1051690" y="0"/>
                </a:lnTo>
                <a:lnTo>
                  <a:pt x="1051690" y="989826"/>
                </a:lnTo>
                <a:lnTo>
                  <a:pt x="0" y="989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26120" y="933450"/>
            <a:ext cx="11628949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Depl</a:t>
            </a:r>
            <a:r>
              <a:rPr lang="en-US" sz="51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oyment &amp; Performance Metrics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46089" y="2495170"/>
            <a:ext cx="13989011" cy="590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9668" indent="-224834" lvl="1">
              <a:lnSpc>
                <a:spcPts val="2915"/>
              </a:lnSpc>
              <a:buFont typeface="Arial"/>
              <a:buChar char="•"/>
            </a:pPr>
            <a:r>
              <a:rPr lang="en-US" sz="2082" spc="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EVAL-HARNESS ALIGNMENT: MIRR</a:t>
            </a:r>
            <a:r>
              <a:rPr lang="en-US" sz="2082" spc="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ORED THE EVAL AGENTS HARNESS EXACTLY IN OUR TRAINING PIPELINE TO ENSURE WIN RATES AND JSON RATES TRANSLATE DIRECTLY TO THE LEADERBOARD.</a:t>
            </a:r>
          </a:p>
          <a:p>
            <a:pPr algn="ctr" marL="449668" indent="-224834" lvl="1">
              <a:lnSpc>
                <a:spcPts val="2915"/>
              </a:lnSpc>
              <a:buFont typeface="Arial"/>
              <a:buChar char="•"/>
            </a:pPr>
            <a:r>
              <a:rPr lang="en-US" sz="2082" spc="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PERSISTENT INFERENCE: CONFIGURED MINESWEEPER_MODEL.PY TO KEEP THE FINE-TUNED LORA IN PERSISTENT MEMORY, MINIMIZING RESPONSE LATENCY FOR THE ASYNCHRONOUS CONTROLLER.</a:t>
            </a:r>
          </a:p>
          <a:p>
            <a:pPr algn="ctr" marL="449668" indent="-224834" lvl="1">
              <a:lnSpc>
                <a:spcPts val="2915"/>
              </a:lnSpc>
              <a:buFont typeface="Arial"/>
              <a:buChar char="•"/>
            </a:pPr>
            <a:r>
              <a:rPr lang="en-US" sz="2082" spc="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ZERO-SHOT COMPLIANCE: STRIPPED ALL THIRD-PARTY LOGIC AND INTERNET DEPENDENCIES FROM THE INFERENCE PATH, ENSURING 100% ELIGIBILITY FOR FINAL MANUAL CHECKS.</a:t>
            </a:r>
          </a:p>
          <a:p>
            <a:pPr algn="ctr" marL="449668" indent="-224834" lvl="1">
              <a:lnSpc>
                <a:spcPts val="2915"/>
              </a:lnSpc>
              <a:buFont typeface="Arial"/>
              <a:buChar char="•"/>
            </a:pPr>
            <a:r>
              <a:rPr lang="en-US" sz="2082" spc="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ADAPTIVE EVALUATION: VALIDATED THE MODEL ACROSS VARIED TEMPERATURES (TEMP=0.3) AND BOARD SIZES (SMALL TO XL) TO GUARANTEE ROBUST PERFORMANCE IN ALL 3 EVALUATION ROUNDS.</a:t>
            </a:r>
          </a:p>
          <a:p>
            <a:pPr algn="ctr" marL="449668" indent="-224834" lvl="1">
              <a:lnSpc>
                <a:spcPts val="2915"/>
              </a:lnSpc>
              <a:buFont typeface="Arial"/>
              <a:buChar char="•"/>
            </a:pPr>
            <a:r>
              <a:rPr lang="en-US" sz="2082" spc="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WINNING STRATEGY: PRIORITIZES CAPTURING THE +100 TERMINAL BONUS BY CLEARING ALL SAFE CELLS, TARGETING TOP-3 LEADERBOARD PLACEMENT FOR THE CUMULATIVE PRIZE.</a:t>
            </a:r>
          </a:p>
          <a:p>
            <a:pPr algn="ctr">
              <a:lnSpc>
                <a:spcPts val="291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215356" y="9102407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TEAM77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DAHBW5HDW2M</dc:identifier>
  <dcterms:modified xsi:type="dcterms:W3CDTF">2011-08-01T06:04:30Z</dcterms:modified>
  <cp:revision>1</cp:revision>
  <dc:title>Pitch Deck</dc:title>
</cp:coreProperties>
</file>